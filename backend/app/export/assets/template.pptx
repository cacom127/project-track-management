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eld_project_name"/>
          <p:cNvSpPr txBox="1"/>
          <p:nvPr/>
        </p:nvSpPr>
        <p:spPr>
          <a:xfrm>
            <a:off x="365760" y="25603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2045"/>
                </a:solidFill>
                <a:latin typeface="Noto Sans JP"/>
              </a:rPr>
              <a:t>基幹システム刷新プロジェクト</a:t>
            </a:r>
          </a:p>
        </p:txBody>
      </p:sp>
      <p:sp>
        <p:nvSpPr>
          <p:cNvPr id="3" name="field_type_badge_1"/>
          <p:cNvSpPr/>
          <p:nvPr/>
        </p:nvSpPr>
        <p:spPr>
          <a:xfrm>
            <a:off x="365760" y="960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D3E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004881"/>
                </a:solidFill>
                <a:latin typeface="Noto Sans JP"/>
              </a:rPr>
              <a:t>オフショア</a:t>
            </a:r>
          </a:p>
        </p:txBody>
      </p:sp>
      <p:sp>
        <p:nvSpPr>
          <p:cNvPr id="4" name="field_status_badge"/>
          <p:cNvSpPr/>
          <p:nvPr/>
        </p:nvSpPr>
        <p:spPr>
          <a:xfrm>
            <a:off x="1965960" y="9601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DE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121C2C"/>
                </a:solidFill>
                <a:latin typeface="Noto Sans JP"/>
              </a:rPr>
              <a:t>進行中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444752"/>
            <a:ext cx="11457432" cy="15240"/>
          </a:xfrm>
          <a:prstGeom prst="rect">
            <a:avLst/>
          </a:prstGeom>
          <a:solidFill>
            <a:srgbClr val="C4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eld_description"/>
          <p:cNvSpPr txBox="1"/>
          <p:nvPr/>
        </p:nvSpPr>
        <p:spPr>
          <a:xfrm>
            <a:off x="365760" y="1645920"/>
            <a:ext cx="667512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 i="0">
                <a:solidFill>
                  <a:srgbClr val="121C2C"/>
                </a:solidFill>
                <a:latin typeface="Noto Sans JP"/>
              </a:rPr>
              <a:t>既存の基幹システムをクラウドネイティブ構成へ刷新。マイクロサービス化とCI/CDパイプライン整備を通じ、リリース頻度を月次から週次へ改善した。</a:t>
            </a:r>
          </a:p>
        </p:txBody>
      </p:sp>
      <p:sp>
        <p:nvSpPr>
          <p:cNvPr id="7" name="field_meta"/>
          <p:cNvSpPr txBox="1"/>
          <p:nvPr/>
        </p:nvSpPr>
        <p:spPr>
          <a:xfrm>
            <a:off x="36576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3474E"/>
                </a:solidFill>
                <a:latin typeface="Noto Sans JP"/>
              </a:rPr>
              <a:t>業種: 製造業　　期間: 2024-01 〜 進行中
人数: 8名　　総人月: 42人月</a:t>
            </a:r>
          </a:p>
        </p:txBody>
      </p:sp>
      <p:sp>
        <p:nvSpPr>
          <p:cNvPr id="8" name="img_slot_1"/>
          <p:cNvSpPr/>
          <p:nvPr/>
        </p:nvSpPr>
        <p:spPr>
          <a:xfrm>
            <a:off x="7360920" y="1645920"/>
            <a:ext cx="1993392" cy="1371600"/>
          </a:xfrm>
          <a:prstGeom prst="rect">
            <a:avLst/>
          </a:prstGeom>
          <a:solidFill>
            <a:srgbClr val="F0F3FF"/>
          </a:solidFill>
          <a:ln w="9525">
            <a:solidFill>
              <a:srgbClr val="C4C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3474E"/>
                </a:solidFill>
                <a:latin typeface="Noto Sans JP"/>
              </a:rPr>
              <a:t>画像</a:t>
            </a:r>
          </a:p>
        </p:txBody>
      </p:sp>
      <p:sp>
        <p:nvSpPr>
          <p:cNvPr id="9" name="img_slot_2"/>
          <p:cNvSpPr/>
          <p:nvPr/>
        </p:nvSpPr>
        <p:spPr>
          <a:xfrm>
            <a:off x="9528048" y="1645920"/>
            <a:ext cx="1993392" cy="1371600"/>
          </a:xfrm>
          <a:prstGeom prst="rect">
            <a:avLst/>
          </a:prstGeom>
          <a:solidFill>
            <a:srgbClr val="F0F3FF"/>
          </a:solidFill>
          <a:ln w="9525">
            <a:solidFill>
              <a:srgbClr val="C4C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3474E"/>
                </a:solidFill>
                <a:latin typeface="Noto Sans JP"/>
              </a:rPr>
              <a:t>画像</a:t>
            </a:r>
          </a:p>
        </p:txBody>
      </p:sp>
      <p:sp>
        <p:nvSpPr>
          <p:cNvPr id="10" name="img_slot_3"/>
          <p:cNvSpPr/>
          <p:nvPr/>
        </p:nvSpPr>
        <p:spPr>
          <a:xfrm>
            <a:off x="7360920" y="3127248"/>
            <a:ext cx="1993392" cy="1371600"/>
          </a:xfrm>
          <a:prstGeom prst="rect">
            <a:avLst/>
          </a:prstGeom>
          <a:solidFill>
            <a:srgbClr val="F0F3FF"/>
          </a:solidFill>
          <a:ln w="9525">
            <a:solidFill>
              <a:srgbClr val="C4C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3474E"/>
                </a:solidFill>
                <a:latin typeface="Noto Sans JP"/>
              </a:rPr>
              <a:t>画像</a:t>
            </a:r>
          </a:p>
        </p:txBody>
      </p:sp>
      <p:sp>
        <p:nvSpPr>
          <p:cNvPr id="11" name="img_slot_4"/>
          <p:cNvSpPr/>
          <p:nvPr/>
        </p:nvSpPr>
        <p:spPr>
          <a:xfrm>
            <a:off x="9528048" y="3127248"/>
            <a:ext cx="1993392" cy="1371600"/>
          </a:xfrm>
          <a:prstGeom prst="rect">
            <a:avLst/>
          </a:prstGeom>
          <a:solidFill>
            <a:srgbClr val="F0F3FF"/>
          </a:solidFill>
          <a:ln w="9525">
            <a:solidFill>
              <a:srgbClr val="C4C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43474E"/>
                </a:solidFill>
                <a:latin typeface="Noto Sans JP"/>
              </a:rPr>
              <a:t>画像</a:t>
            </a:r>
          </a:p>
        </p:txBody>
      </p:sp>
      <p:sp>
        <p:nvSpPr>
          <p:cNvPr id="12" name="divider"/>
          <p:cNvSpPr/>
          <p:nvPr/>
        </p:nvSpPr>
        <p:spPr>
          <a:xfrm>
            <a:off x="365760" y="4617720"/>
            <a:ext cx="11457432" cy="15240"/>
          </a:xfrm>
          <a:prstGeom prst="rect">
            <a:avLst/>
          </a:prstGeom>
          <a:solidFill>
            <a:srgbClr val="C4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_tech"/>
          <p:cNvSpPr txBox="1"/>
          <p:nvPr/>
        </p:nvSpPr>
        <p:spPr>
          <a:xfrm>
            <a:off x="365760" y="4709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474E"/>
                </a:solidFill>
                <a:latin typeface="Noto Sans JP"/>
              </a:rPr>
              <a:t>技術:</a:t>
            </a:r>
          </a:p>
        </p:txBody>
      </p:sp>
      <p:sp>
        <p:nvSpPr>
          <p:cNvPr id="14" name="field_tech_badge_1"/>
          <p:cNvSpPr/>
          <p:nvPr/>
        </p:nvSpPr>
        <p:spPr>
          <a:xfrm>
            <a:off x="1188720" y="46817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9FF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005231"/>
                </a:solidFill>
                <a:latin typeface="Noto Sans JP"/>
              </a:rPr>
              <a:t>React</a:t>
            </a:r>
          </a:p>
        </p:txBody>
      </p:sp>
      <p:sp>
        <p:nvSpPr>
          <p:cNvPr id="15" name="field_tech_badge_2"/>
          <p:cNvSpPr/>
          <p:nvPr/>
        </p:nvSpPr>
        <p:spPr>
          <a:xfrm>
            <a:off x="2286000" y="46817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9FF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005231"/>
                </a:solidFill>
                <a:latin typeface="Noto Sans JP"/>
              </a:rPr>
              <a:t>AWS</a:t>
            </a:r>
          </a:p>
        </p:txBody>
      </p:sp>
      <p:sp>
        <p:nvSpPr>
          <p:cNvPr id="16" name="label_phase"/>
          <p:cNvSpPr txBox="1"/>
          <p:nvPr/>
        </p:nvSpPr>
        <p:spPr>
          <a:xfrm>
            <a:off x="6035040" y="4709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3474E"/>
                </a:solidFill>
                <a:latin typeface="Noto Sans JP"/>
              </a:rPr>
              <a:t>開発工程:</a:t>
            </a:r>
          </a:p>
        </p:txBody>
      </p:sp>
      <p:sp>
        <p:nvSpPr>
          <p:cNvPr id="17" name="field_phase_badge_1"/>
          <p:cNvSpPr/>
          <p:nvPr/>
        </p:nvSpPr>
        <p:spPr>
          <a:xfrm>
            <a:off x="7178040" y="46817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E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6B4A00"/>
                </a:solidFill>
                <a:latin typeface="Noto Sans JP"/>
              </a:rPr>
              <a:t>設計</a:t>
            </a:r>
          </a:p>
        </p:txBody>
      </p:sp>
      <p:sp>
        <p:nvSpPr>
          <p:cNvPr id="18" name="field_phase_badge_2"/>
          <p:cNvSpPr/>
          <p:nvPr/>
        </p:nvSpPr>
        <p:spPr>
          <a:xfrm>
            <a:off x="8229600" y="46817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E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12700" bIns="12700"/>
          <a:lstStyle/>
          <a:p>
            <a:pPr algn="ctr"/>
            <a:r>
              <a:rPr sz="1100" b="1">
                <a:solidFill>
                  <a:srgbClr val="6B4A00"/>
                </a:solidFill>
                <a:latin typeface="Noto Sans JP"/>
              </a:rPr>
              <a:t>実装</a:t>
            </a:r>
          </a:p>
        </p:txBody>
      </p:sp>
      <p:sp>
        <p:nvSpPr>
          <p:cNvPr id="19" name="divider"/>
          <p:cNvSpPr/>
          <p:nvPr/>
        </p:nvSpPr>
        <p:spPr>
          <a:xfrm>
            <a:off x="365760" y="5166360"/>
            <a:ext cx="11457432" cy="15240"/>
          </a:xfrm>
          <a:prstGeom prst="rect">
            <a:avLst/>
          </a:prstGeom>
          <a:solidFill>
            <a:srgbClr val="C4C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abel_outcome"/>
          <p:cNvSpPr txBox="1"/>
          <p:nvPr/>
        </p:nvSpPr>
        <p:spPr>
          <a:xfrm>
            <a:off x="36576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045"/>
                </a:solidFill>
                <a:latin typeface="Noto Sans JP"/>
              </a:rPr>
              <a:t>成果・課題・解決策</a:t>
            </a:r>
          </a:p>
        </p:txBody>
      </p:sp>
      <p:sp>
        <p:nvSpPr>
          <p:cNvPr id="21" name="field_outcome_note"/>
          <p:cNvSpPr txBox="1"/>
          <p:nvPr/>
        </p:nvSpPr>
        <p:spPr>
          <a:xfrm>
            <a:off x="365760" y="5623560"/>
            <a:ext cx="11457432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 i="0">
                <a:solidFill>
                  <a:srgbClr val="121C2C"/>
                </a:solidFill>
                <a:latin typeface="Noto Sans JP"/>
              </a:rPr>
              <a:t>リリース頻度を月次から週次に改善し、障害対応時間を平均40%短縮。旧システムからの段階移行により業務停止なしで刷新を完了した。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